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2" r:id="rId1"/>
  </p:sldMasterIdLst>
  <p:notesMasterIdLst>
    <p:notesMasterId r:id="rId15"/>
  </p:notesMasterIdLst>
  <p:sldIdLst>
    <p:sldId id="258" r:id="rId2"/>
    <p:sldId id="257" r:id="rId3"/>
    <p:sldId id="269" r:id="rId4"/>
    <p:sldId id="259" r:id="rId5"/>
    <p:sldId id="264" r:id="rId6"/>
    <p:sldId id="260" r:id="rId7"/>
    <p:sldId id="266" r:id="rId8"/>
    <p:sldId id="261" r:id="rId9"/>
    <p:sldId id="265" r:id="rId10"/>
    <p:sldId id="267" r:id="rId11"/>
    <p:sldId id="268" r:id="rId12"/>
    <p:sldId id="262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487"/>
    <a:srgbClr val="F10023"/>
    <a:srgbClr val="DB3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9872" autoAdjust="0"/>
  </p:normalViewPr>
  <p:slideViewPr>
    <p:cSldViewPr snapToGrid="0">
      <p:cViewPr varScale="1">
        <p:scale>
          <a:sx n="56" d="100"/>
          <a:sy n="56" d="100"/>
        </p:scale>
        <p:origin x="10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73CFB-AF3D-4C3E-9B7B-A2DD4B9A0373}" type="datetimeFigureOut">
              <a:rPr lang="en-IN" smtClean="0"/>
              <a:t>15-12-2024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0FF14D-AF6C-4CFA-A7EF-71737FDB52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928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0FF14D-AF6C-4CFA-A7EF-71737FDB529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8797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0FF14D-AF6C-4CFA-A7EF-71737FDB529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9798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0FF14D-AF6C-4CFA-A7EF-71737FDB529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086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0FF14D-AF6C-4CFA-A7EF-71737FDB529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681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2B1E8-5C5D-194C-1D1E-BC209DF4E7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A18A6D-EB4A-B4D5-A08E-9C4C49CC38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C0A88-6DD9-9C62-C10F-6974B00B0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41623-A064-4BED-B073-BA4D61433402}" type="datetime1">
              <a:rPr lang="en-US" smtClean="0"/>
              <a:t>12/15/2024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A01E4-ADC4-2789-162A-3A9063A82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C4D78-A043-77EB-C09C-759AF9CE4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218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95AA2-DA0B-ADAA-D637-D6015423C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0B706-9831-5DE3-4314-2CC850430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88B26B-6E8A-9A9D-82AD-E04B83054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12/15/2024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B356E-CE94-CC49-CB2A-F1884A320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928EEB-B479-058F-45F4-E00ED2F21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64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DA03B-6688-F23B-A6FD-4A9764422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44291-634F-ACDE-2FC9-369BF82E1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B40E3-E1D3-AB2B-9E3B-393A1C80A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EB70D-CD01-44DA-83B3-8FEB3383D307}" type="datetime1">
              <a:rPr lang="en-US" smtClean="0"/>
              <a:t>12/15/2024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DEE4D8-E911-D9F9-D59A-A531FBC85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E9BE7-9A7D-B208-37A4-836AF11D2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950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E809E-3ACB-DE6C-518A-218B3562A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71DEC-AA96-C1F0-70C5-3F5B747B8A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FDE9E0-B3B6-B92C-159C-986E16809B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D94BCC-8F73-3462-AD25-E2F669079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12/15/2024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6F2DB-ECD0-4C0C-072A-5EEEB840F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AC64E7-F1EC-3019-FAA3-90E4A25D9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299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3F47D-E4DE-A12E-E57D-9F3508CDF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1ACCF-E37B-1E3B-2723-23D12FB982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72AE70-FB67-9C83-9E7F-4EFF8AC64D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C76459-9ADC-898A-CD5C-6D7954D538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8E646D-B449-95FD-7427-F32EAC876D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667E1B-02B2-358A-2425-708D7B560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12/15/2024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5BC44C-B3F3-1B03-A0E3-3C1AE998D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560326-4236-A563-9459-E6DF33969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225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1E339-CD79-1621-B20D-3A4C7573E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C06DEA-7783-BC94-363F-002D461D5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12/15/2024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1E3099-6D69-DC0E-1627-75D71FF9D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B6FBDC-0B87-75E7-8CAC-F90CF3F42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58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8406B0-B36E-EA11-6630-EE607320D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12/15/2024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FED534-0518-F6D6-5CED-9CB63EFF7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BE415-4F46-4ED5-A8AA-09BEC07E9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667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27D23-19B3-EEE4-5E59-4EDB55AAA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9D41F-DAB9-498C-7A78-DAED729B8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53D7B8-082F-DD6D-E77E-0DBBFE46DF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248E4-3965-8B61-AEC5-808D21085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D0D6-7A82-473E-879B-C6ECD6CCCFEC}" type="datetime1">
              <a:rPr lang="en-US" smtClean="0"/>
              <a:t>12/15/2024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770B89-829D-41B5-4295-51DA83D07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03AE1-934C-798F-8688-3B7BA7DD9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247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34AC3-AA84-C40D-0A36-0927332A8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EB0CF2-CA98-A524-5E14-D88B8876FD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D800E-1094-53F8-5701-C926ACE9E8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990096-213D-6979-98B3-EEE6BE186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05E03-BC17-41A7-854C-DFAB672737DC}" type="datetime1">
              <a:rPr lang="en-US" smtClean="0"/>
              <a:t>12/15/2024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B1EC8-2CC9-A666-25D7-FB643EE39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F84785-A0C9-B937-280D-462890C33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631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D8B26-1E75-3AC7-534F-C0ECE6BA5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5D4F8F-98E7-C684-B88C-E3F0B4AF7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07175-E5ED-17A5-B104-B60A1AE92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12/15/2024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79C39-AB5D-FBD0-EBDF-894A5CF50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B54BE-5D6D-67EA-561E-667CDA8D0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389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E7B611-5E69-EC9E-962E-C5A93F833A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B79F1-3504-42F4-C6EB-0FD6718C33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6BEE7-9711-6C46-2650-B3D578AC3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F02AB-6034-4B88-BC5A-7C17CB0EF809}" type="datetime1">
              <a:rPr lang="en-US" smtClean="0"/>
              <a:t>12/15/2024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9D57F-FC50-3C7E-ABBA-98ED2ACFC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49B80-FCD7-D0D7-050E-415A80B33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821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92F428-2A78-099B-57C1-B8BB4B761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0C81A-39ED-AB01-36AF-0A361A4FA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0E28B7-E3CB-88BE-E31A-8F042B2596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408324-A84C-4A45-93B6-78D079CCE772}" type="datetime1">
              <a:rPr lang="en-US" smtClean="0"/>
              <a:t>12/15/2024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7464A-956D-BE4A-FE10-EAEA1074B0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A0528-2122-C333-794D-82E56169A3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43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mailto:dataops@datainsightsfirm.com" TargetMode="External"/><Relationship Id="rId3" Type="http://schemas.microsoft.com/office/2007/relationships/hdphoto" Target="../media/hdphoto2.wdp"/><Relationship Id="rId7" Type="http://schemas.openxmlformats.org/officeDocument/2006/relationships/image" Target="../media/image32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9" Type="http://schemas.openxmlformats.org/officeDocument/2006/relationships/hyperlink" Target="https://public.tableau.com/app/profile/ananthakrishnan.pullath.mohan.menon/viz/CreditCardUserBehaviorAnalysis-Group9/ExploratoryDashboard?publish=y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Bank of america logo hi-res stock photography and images - Alamy">
            <a:extLst>
              <a:ext uri="{FF2B5EF4-FFF2-40B4-BE49-F238E27FC236}">
                <a16:creationId xmlns:a16="http://schemas.microsoft.com/office/drawing/2014/main" id="{B66B91F2-7614-FBB0-7B1A-53CEA7B43E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aintBrus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-10730" r="26271" b="9090"/>
          <a:stretch/>
        </p:blipFill>
        <p:spPr bwMode="auto">
          <a:xfrm>
            <a:off x="3965608" y="10"/>
            <a:ext cx="822639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9" name="Rectangle 2058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F1055C-B478-FCA3-A952-DD3E336943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2104" y="1122363"/>
            <a:ext cx="4661910" cy="3204134"/>
          </a:xfrm>
        </p:spPr>
        <p:txBody>
          <a:bodyPr anchor="ctr">
            <a:normAutofit/>
          </a:bodyPr>
          <a:lstStyle/>
          <a:p>
            <a:pPr algn="l"/>
            <a:r>
              <a:rPr lang="en-IN" sz="4800" b="1" dirty="0"/>
              <a:t>CREDIT CARD USER ATTRITION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844098-4ED2-BD10-BDBA-43B1EA9DBF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103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n-IN" sz="2000"/>
              <a:t>MIS 561</a:t>
            </a:r>
          </a:p>
          <a:p>
            <a:pPr algn="l"/>
            <a:r>
              <a:rPr lang="en-IN" sz="2000"/>
              <a:t>Group 9</a:t>
            </a:r>
          </a:p>
          <a:p>
            <a:pPr algn="l"/>
            <a:endParaRPr lang="en-IN" sz="2000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BB4678-2D31-7883-2BAB-CF700B28A5D6}"/>
              </a:ext>
            </a:extLst>
          </p:cNvPr>
          <p:cNvSpPr/>
          <p:nvPr/>
        </p:nvSpPr>
        <p:spPr>
          <a:xfrm>
            <a:off x="477979" y="625683"/>
            <a:ext cx="3980689" cy="144000"/>
          </a:xfrm>
          <a:prstGeom prst="rect">
            <a:avLst/>
          </a:prstGeom>
          <a:solidFill>
            <a:srgbClr val="F1002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569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close-up of a person&#10;&#10;Description automatically generated">
            <a:extLst>
              <a:ext uri="{FF2B5EF4-FFF2-40B4-BE49-F238E27FC236}">
                <a16:creationId xmlns:a16="http://schemas.microsoft.com/office/drawing/2014/main" id="{818308F4-56CD-7C96-2302-5A348A469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239" y="1965469"/>
            <a:ext cx="1960105" cy="2520135"/>
          </a:xfrm>
          <a:prstGeom prst="ellipse">
            <a:avLst/>
          </a:prstGeom>
          <a:ln w="19050">
            <a:solidFill>
              <a:srgbClr val="003487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807BA5C-C020-E335-04D6-A7926BBAAB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69"/>
          <a:stretch/>
        </p:blipFill>
        <p:spPr>
          <a:xfrm>
            <a:off x="1007524" y="1965469"/>
            <a:ext cx="1960105" cy="2520136"/>
          </a:xfrm>
          <a:prstGeom prst="ellipse">
            <a:avLst/>
          </a:prstGeom>
          <a:ln w="19050">
            <a:solidFill>
              <a:srgbClr val="003487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ABA63D-B72B-B7DF-121A-DAC645F29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ANALYST TEAM MEMBERS</a:t>
            </a:r>
          </a:p>
        </p:txBody>
      </p:sp>
      <p:pic>
        <p:nvPicPr>
          <p:cNvPr id="7" name="Picture 6" descr="A person wearing a suit and glasses&#10;&#10;Description automatically generated">
            <a:extLst>
              <a:ext uri="{FF2B5EF4-FFF2-40B4-BE49-F238E27FC236}">
                <a16:creationId xmlns:a16="http://schemas.microsoft.com/office/drawing/2014/main" id="{A61CDD67-0236-EF0A-1CD9-77811FAAF6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96" r="20170"/>
          <a:stretch/>
        </p:blipFill>
        <p:spPr>
          <a:xfrm>
            <a:off x="3713382" y="1965470"/>
            <a:ext cx="1960105" cy="2520135"/>
          </a:xfrm>
          <a:prstGeom prst="ellipse">
            <a:avLst/>
          </a:prstGeom>
          <a:ln w="19050">
            <a:solidFill>
              <a:srgbClr val="003487"/>
            </a:solidFill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AE1A98B-7C48-DF75-1D4C-6C0A9DB0041D}"/>
              </a:ext>
            </a:extLst>
          </p:cNvPr>
          <p:cNvSpPr/>
          <p:nvPr/>
        </p:nvSpPr>
        <p:spPr>
          <a:xfrm>
            <a:off x="477979" y="6429733"/>
            <a:ext cx="11293717" cy="144324"/>
          </a:xfrm>
          <a:prstGeom prst="rect">
            <a:avLst/>
          </a:prstGeom>
          <a:solidFill>
            <a:srgbClr val="0034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AA0195D-5E69-1B32-B772-5128DAA574F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14889"/>
          <a:stretch/>
        </p:blipFill>
        <p:spPr>
          <a:xfrm>
            <a:off x="9125096" y="1965469"/>
            <a:ext cx="1960105" cy="2520136"/>
          </a:xfrm>
          <a:prstGeom prst="ellipse">
            <a:avLst/>
          </a:prstGeom>
          <a:ln w="19050">
            <a:solidFill>
              <a:srgbClr val="003487"/>
            </a:solidFill>
          </a:ln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C7B7379-DA58-D9C1-ED90-4BA41B65D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321" y="4771937"/>
            <a:ext cx="2328512" cy="9175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000" dirty="0" err="1"/>
              <a:t>Bavya</a:t>
            </a:r>
            <a:r>
              <a:rPr lang="en-IN" sz="2000" dirty="0"/>
              <a:t> </a:t>
            </a:r>
            <a:br>
              <a:rPr lang="en-IN" sz="2000" dirty="0"/>
            </a:br>
            <a:r>
              <a:rPr lang="en-IN" sz="2000" dirty="0" err="1"/>
              <a:t>Nalajala</a:t>
            </a:r>
            <a:endParaRPr lang="en-IN" sz="20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F708BC6C-6472-4DFE-FDFA-0D4FDC1AC91D}"/>
              </a:ext>
            </a:extLst>
          </p:cNvPr>
          <p:cNvSpPr txBox="1">
            <a:spLocks/>
          </p:cNvSpPr>
          <p:nvPr/>
        </p:nvSpPr>
        <p:spPr>
          <a:xfrm>
            <a:off x="3529178" y="4771937"/>
            <a:ext cx="2328512" cy="917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sz="2000" dirty="0" err="1"/>
              <a:t>Ananthakrishnan</a:t>
            </a:r>
            <a:br>
              <a:rPr lang="en-IN" sz="2000" dirty="0"/>
            </a:br>
            <a:r>
              <a:rPr lang="en-IN" sz="2000" dirty="0"/>
              <a:t>Mohan Menon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8855F66-8CB6-59F5-091E-FF1554BC5231}"/>
              </a:ext>
            </a:extLst>
          </p:cNvPr>
          <p:cNvSpPr txBox="1">
            <a:spLocks/>
          </p:cNvSpPr>
          <p:nvPr/>
        </p:nvSpPr>
        <p:spPr>
          <a:xfrm>
            <a:off x="6235035" y="4771937"/>
            <a:ext cx="2328512" cy="917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sz="2000" dirty="0"/>
              <a:t>Koumudi </a:t>
            </a:r>
            <a:br>
              <a:rPr lang="en-IN" sz="2000" dirty="0"/>
            </a:br>
            <a:r>
              <a:rPr lang="en-IN" sz="2000" dirty="0"/>
              <a:t>Vellanki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C3AAE53-F93D-AD22-AB4D-0DCB080F86B7}"/>
              </a:ext>
            </a:extLst>
          </p:cNvPr>
          <p:cNvSpPr txBox="1">
            <a:spLocks/>
          </p:cNvSpPr>
          <p:nvPr/>
        </p:nvSpPr>
        <p:spPr>
          <a:xfrm>
            <a:off x="8940892" y="4771936"/>
            <a:ext cx="2328512" cy="917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IN" sz="2000" dirty="0"/>
              <a:t>Bhavana</a:t>
            </a:r>
            <a:br>
              <a:rPr lang="en-IN" sz="2000" dirty="0"/>
            </a:br>
            <a:r>
              <a:rPr lang="en-IN" sz="2000" dirty="0"/>
              <a:t>Sarvesh</a:t>
            </a:r>
          </a:p>
        </p:txBody>
      </p:sp>
      <p:pic>
        <p:nvPicPr>
          <p:cNvPr id="22" name="Picture 8" descr="Bank of America Logo and symbol ...">
            <a:extLst>
              <a:ext uri="{FF2B5EF4-FFF2-40B4-BE49-F238E27FC236}">
                <a16:creationId xmlns:a16="http://schemas.microsoft.com/office/drawing/2014/main" id="{A3493898-21E2-1CFA-7AA7-8ADDCCCCA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8836" y="90344"/>
            <a:ext cx="1295254" cy="725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228471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1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ID="21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  <p:bldP spid="19" grpId="0"/>
      <p:bldP spid="20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E047C-C8AD-FC64-40DB-EC7E7FD94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F06847-341E-2294-0EAF-D27257FD26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15267"/>
              </p:ext>
            </p:extLst>
          </p:nvPr>
        </p:nvGraphicFramePr>
        <p:xfrm>
          <a:off x="942109" y="1624831"/>
          <a:ext cx="10298547" cy="3669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1236">
                  <a:extLst>
                    <a:ext uri="{9D8B030D-6E8A-4147-A177-3AD203B41FA5}">
                      <a16:colId xmlns:a16="http://schemas.microsoft.com/office/drawing/2014/main" val="2531538565"/>
                    </a:ext>
                  </a:extLst>
                </a:gridCol>
                <a:gridCol w="4350328">
                  <a:extLst>
                    <a:ext uri="{9D8B030D-6E8A-4147-A177-3AD203B41FA5}">
                      <a16:colId xmlns:a16="http://schemas.microsoft.com/office/drawing/2014/main" val="4221869790"/>
                    </a:ext>
                  </a:extLst>
                </a:gridCol>
                <a:gridCol w="3906983">
                  <a:extLst>
                    <a:ext uri="{9D8B030D-6E8A-4147-A177-3AD203B41FA5}">
                      <a16:colId xmlns:a16="http://schemas.microsoft.com/office/drawing/2014/main" val="2821282356"/>
                    </a:ext>
                  </a:extLst>
                </a:gridCol>
              </a:tblGrid>
              <a:tr h="483889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PG.NO</a:t>
                      </a:r>
                    </a:p>
                  </a:txBody>
                  <a:tcPr anchor="ctr">
                    <a:solidFill>
                      <a:srgbClr val="0034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TOPIC</a:t>
                      </a:r>
                    </a:p>
                  </a:txBody>
                  <a:tcPr anchor="ctr">
                    <a:solidFill>
                      <a:srgbClr val="0034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PRESENTER</a:t>
                      </a:r>
                    </a:p>
                  </a:txBody>
                  <a:tcPr anchor="ctr">
                    <a:solidFill>
                      <a:srgbClr val="0034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302322"/>
                  </a:ext>
                </a:extLst>
              </a:tr>
              <a:tr h="55075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Problem Statement and Objectives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Bavya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Nalajala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7345691"/>
                  </a:ext>
                </a:extLst>
              </a:tr>
              <a:tr h="43915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Bavya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Nalajala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5362547"/>
                  </a:ext>
                </a:extLst>
              </a:tr>
              <a:tr h="43915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Exploratory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Ananthakrishnan</a:t>
                      </a:r>
                      <a:r>
                        <a:rPr lang="en-IN" dirty="0"/>
                        <a:t> Mohan Menon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4131118"/>
                  </a:ext>
                </a:extLst>
              </a:tr>
              <a:tr h="43915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 – 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Explanatory Dashboards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Koumudi Vellanki &amp; </a:t>
                      </a:r>
                      <a:r>
                        <a:rPr lang="en-IN" dirty="0" err="1"/>
                        <a:t>Ananthakrishnan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6625874"/>
                  </a:ext>
                </a:extLst>
              </a:tr>
              <a:tr h="43915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 Limitations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Bhavana Sarvesh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687088"/>
                  </a:ext>
                </a:extLst>
              </a:tr>
              <a:tr h="43915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Future Scope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Bhavana Sarvesh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9329945"/>
                  </a:ext>
                </a:extLst>
              </a:tr>
              <a:tr h="43915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Conclusion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Bhavana Sarvesh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3854374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ED036C4-0DC4-4493-8F57-4DACBD980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B32E6A-3675-9598-F238-665485D0464F}"/>
              </a:ext>
            </a:extLst>
          </p:cNvPr>
          <p:cNvSpPr/>
          <p:nvPr/>
        </p:nvSpPr>
        <p:spPr>
          <a:xfrm>
            <a:off x="477979" y="6429733"/>
            <a:ext cx="11293717" cy="144324"/>
          </a:xfrm>
          <a:prstGeom prst="rect">
            <a:avLst/>
          </a:prstGeom>
          <a:solidFill>
            <a:srgbClr val="0034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" name="Picture 8" descr="Bank of America Logo and symbol ...">
            <a:extLst>
              <a:ext uri="{FF2B5EF4-FFF2-40B4-BE49-F238E27FC236}">
                <a16:creationId xmlns:a16="http://schemas.microsoft.com/office/drawing/2014/main" id="{781DE07D-153C-B9C8-D2F8-5D57FB135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8836" y="90344"/>
            <a:ext cx="1295254" cy="725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4470908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5B57D62-0477-DA0C-BBBA-E192E9B9C6F7}"/>
              </a:ext>
            </a:extLst>
          </p:cNvPr>
          <p:cNvSpPr txBox="1">
            <a:spLocks/>
          </p:cNvSpPr>
          <p:nvPr/>
        </p:nvSpPr>
        <p:spPr>
          <a:xfrm>
            <a:off x="838200" y="153687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IN" sz="2200" dirty="0"/>
              <a:t>Bank of America is </a:t>
            </a:r>
            <a:r>
              <a:rPr lang="en-US" sz="2200" dirty="0"/>
              <a:t>facing a critical challenge of high customer attrition, impacting its revenue and growth. The management team, seeks a comprehensive analysis to understand the factors driving attrition. </a:t>
            </a:r>
          </a:p>
          <a:p>
            <a:pPr marL="0" indent="0" algn="just">
              <a:buNone/>
            </a:pPr>
            <a:r>
              <a:rPr lang="en-US" sz="2200" dirty="0"/>
              <a:t>We as analysts, will provide clean, insightful data, interactive dashboards, and actionable visuals to enable exploration and strategic decision-making, enhancing customer retention and optimizing operational efficiency.</a:t>
            </a:r>
          </a:p>
          <a:p>
            <a:pPr marL="0" indent="0">
              <a:buNone/>
            </a:pPr>
            <a:endParaRPr lang="en-IN" sz="22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713DB7-76CA-AF33-7591-E2ECAA6E9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 &amp; OBJECTIVE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CDEB65-3B9F-F706-2884-33D4191F7B95}"/>
              </a:ext>
            </a:extLst>
          </p:cNvPr>
          <p:cNvSpPr/>
          <p:nvPr/>
        </p:nvSpPr>
        <p:spPr>
          <a:xfrm>
            <a:off x="477979" y="6429733"/>
            <a:ext cx="11293717" cy="144324"/>
          </a:xfrm>
          <a:prstGeom prst="rect">
            <a:avLst/>
          </a:prstGeom>
          <a:solidFill>
            <a:srgbClr val="0034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 descr="Bank of America Logo and symbol ...">
            <a:extLst>
              <a:ext uri="{FF2B5EF4-FFF2-40B4-BE49-F238E27FC236}">
                <a16:creationId xmlns:a16="http://schemas.microsoft.com/office/drawing/2014/main" id="{7ED3C604-3C97-BE1A-74FF-08BA7BDFC3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8836" y="90344"/>
            <a:ext cx="1295254" cy="725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phic 10" descr="Checklist with solid fill">
            <a:extLst>
              <a:ext uri="{FF2B5EF4-FFF2-40B4-BE49-F238E27FC236}">
                <a16:creationId xmlns:a16="http://schemas.microsoft.com/office/drawing/2014/main" id="{F695CD6E-78E3-03ED-CC1C-5CBE72A14C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53712" y="4486166"/>
            <a:ext cx="612000" cy="612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0E4AE53-E227-9D5B-BD77-199E06C38EE1}"/>
              </a:ext>
            </a:extLst>
          </p:cNvPr>
          <p:cNvSpPr txBox="1"/>
          <p:nvPr/>
        </p:nvSpPr>
        <p:spPr>
          <a:xfrm>
            <a:off x="4578915" y="4574446"/>
            <a:ext cx="3646170" cy="430887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457200" lvl="1" indent="0">
              <a:buNone/>
            </a:pPr>
            <a:r>
              <a:rPr lang="en-IN" sz="2200" u="sng" dirty="0"/>
              <a:t>Project Deliverables</a:t>
            </a:r>
            <a:endParaRPr lang="en-IN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E1C2FC-5185-DBB7-A407-4FCFF35824A6}"/>
              </a:ext>
            </a:extLst>
          </p:cNvPr>
          <p:cNvSpPr txBox="1"/>
          <p:nvPr/>
        </p:nvSpPr>
        <p:spPr>
          <a:xfrm>
            <a:off x="711708" y="5544738"/>
            <a:ext cx="28323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F10023"/>
              </a:buClr>
              <a:buFont typeface="Wingdings" panose="05000000000000000000" pitchFamily="2" charset="2"/>
              <a:buChar char="ü"/>
            </a:pPr>
            <a:r>
              <a:rPr lang="en-IN" sz="1800" dirty="0"/>
              <a:t>Cleaned Excel File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5862AA-0142-E9CB-ED93-DA65557865B9}"/>
              </a:ext>
            </a:extLst>
          </p:cNvPr>
          <p:cNvSpPr txBox="1"/>
          <p:nvPr/>
        </p:nvSpPr>
        <p:spPr>
          <a:xfrm>
            <a:off x="3368802" y="554473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F10023"/>
              </a:buClr>
              <a:buFont typeface="Wingdings" panose="05000000000000000000" pitchFamily="2" charset="2"/>
              <a:buChar char="ü"/>
            </a:pPr>
            <a:r>
              <a:rPr lang="en-IN" sz="1800" dirty="0"/>
              <a:t>Exploratory and Explanatory Dashboards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2291CF-6A89-AB7A-D554-66D7B2443897}"/>
              </a:ext>
            </a:extLst>
          </p:cNvPr>
          <p:cNvSpPr txBox="1"/>
          <p:nvPr/>
        </p:nvSpPr>
        <p:spPr>
          <a:xfrm>
            <a:off x="7136892" y="554473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Clr>
                <a:srgbClr val="F10023"/>
              </a:buClr>
              <a:buFont typeface="Wingdings" panose="05000000000000000000" pitchFamily="2" charset="2"/>
              <a:buChar char="ü"/>
            </a:pPr>
            <a:r>
              <a:rPr lang="en-IN" sz="1800" dirty="0"/>
              <a:t>Insights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D42797C-CDF8-B39C-E005-FD40CA92384F}"/>
              </a:ext>
            </a:extLst>
          </p:cNvPr>
          <p:cNvCxnSpPr/>
          <p:nvPr/>
        </p:nvCxnSpPr>
        <p:spPr>
          <a:xfrm>
            <a:off x="3785616" y="3995928"/>
            <a:ext cx="4919472" cy="0"/>
          </a:xfrm>
          <a:prstGeom prst="line">
            <a:avLst/>
          </a:prstGeom>
          <a:ln>
            <a:solidFill>
              <a:srgbClr val="003487"/>
            </a:solidFill>
            <a:prstDash val="lg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78420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15" grpId="0"/>
      <p:bldP spid="17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38208-05A5-427D-F177-C5DA14442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C24D7BED-A170-B6FB-3174-F023ADB00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6875"/>
            <a:ext cx="10515600" cy="966085"/>
          </a:xfrm>
        </p:spPr>
        <p:txBody>
          <a:bodyPr>
            <a:normAutofit/>
          </a:bodyPr>
          <a:lstStyle/>
          <a:p>
            <a:pPr marL="0" indent="0" algn="just">
              <a:buFont typeface="Arial" panose="020B0604020202020204" pitchFamily="34" charset="0"/>
              <a:buNone/>
            </a:pPr>
            <a:r>
              <a:rPr lang="en-IN" sz="1800" dirty="0"/>
              <a:t>The dataset </a:t>
            </a:r>
            <a:r>
              <a:rPr lang="en-US" sz="1800" dirty="0"/>
              <a:t>captures customer demographics such as Age, Gender, Education, Marital Status, Income along with engagement metrics like Active Months, Outreach Count, and financial data (Credit Limit, Utilization, Transactions).</a:t>
            </a:r>
          </a:p>
          <a:p>
            <a:endParaRPr lang="en-IN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036AE3-8310-BAD2-08EA-18CC1755F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F7BE44-A6DA-6610-82F9-2E59DE807572}"/>
              </a:ext>
            </a:extLst>
          </p:cNvPr>
          <p:cNvSpPr/>
          <p:nvPr/>
        </p:nvSpPr>
        <p:spPr>
          <a:xfrm>
            <a:off x="477979" y="6429733"/>
            <a:ext cx="11293717" cy="144324"/>
          </a:xfrm>
          <a:prstGeom prst="rect">
            <a:avLst/>
          </a:prstGeom>
          <a:solidFill>
            <a:srgbClr val="0034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B5B924A-C21F-D3F8-60DE-3810546EB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353" y="2454060"/>
            <a:ext cx="7339528" cy="3798957"/>
          </a:xfrm>
          <a:prstGeom prst="rect">
            <a:avLst/>
          </a:prstGeom>
          <a:ln w="19050">
            <a:solidFill>
              <a:srgbClr val="003487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3129C44-783D-9E24-5744-8FF03D72192B}"/>
              </a:ext>
            </a:extLst>
          </p:cNvPr>
          <p:cNvSpPr txBox="1"/>
          <p:nvPr/>
        </p:nvSpPr>
        <p:spPr>
          <a:xfrm>
            <a:off x="8325825" y="2608273"/>
            <a:ext cx="348281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u="sng" dirty="0"/>
              <a:t>Data Cleaning Process</a:t>
            </a:r>
            <a:r>
              <a:rPr lang="en-US" sz="1600" dirty="0"/>
              <a:t>: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Approximately 10% of the data had missing demographic information </a:t>
            </a:r>
            <a:r>
              <a:rPr lang="en-US" sz="1600" dirty="0"/>
              <a:t>(marital status, education, income category), marked as "unknown."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Given the volume, we opted not to impute these values to maintain data integrity.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Standardized variable names and prepared pivot tables for quick insights into </a:t>
            </a:r>
            <a:r>
              <a:rPr lang="en-US" sz="1600" dirty="0" err="1"/>
              <a:t>attrited</a:t>
            </a:r>
            <a:r>
              <a:rPr lang="en-US" sz="1600" dirty="0"/>
              <a:t> vs. existing customers.</a:t>
            </a:r>
          </a:p>
        </p:txBody>
      </p:sp>
      <p:pic>
        <p:nvPicPr>
          <p:cNvPr id="20" name="Picture 8" descr="Bank of America Logo and symbol ...">
            <a:extLst>
              <a:ext uri="{FF2B5EF4-FFF2-40B4-BE49-F238E27FC236}">
                <a16:creationId xmlns:a16="http://schemas.microsoft.com/office/drawing/2014/main" id="{273A2A0C-5FC8-C4A0-F99D-C88957B746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8836" y="90344"/>
            <a:ext cx="1295254" cy="725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539097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uild="p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7AD23-9365-C5C9-7AB7-755A15581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6EA07F-3A3D-F821-0B78-E99E01FA3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603" y="1424056"/>
            <a:ext cx="8405998" cy="4811999"/>
          </a:xfrm>
          <a:prstGeom prst="rect">
            <a:avLst/>
          </a:prstGeom>
          <a:ln w="19050">
            <a:solidFill>
              <a:srgbClr val="003487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242799C-DA55-2091-47D9-880B0E78651C}"/>
              </a:ext>
            </a:extLst>
          </p:cNvPr>
          <p:cNvSpPr txBox="1"/>
          <p:nvPr/>
        </p:nvSpPr>
        <p:spPr>
          <a:xfrm>
            <a:off x="9372601" y="1873883"/>
            <a:ext cx="2399095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This exploratory dashboard offers interactive visuals to analyze customer metrics and filter by gender, education and marital status, helping executives uncover numeric trends driving attrition.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We can directly derive that </a:t>
            </a:r>
            <a:r>
              <a:rPr lang="en-US" sz="1400" dirty="0"/>
              <a:t>retaining existing high-utilization customers and targeting higher-income segments are helpful for growth</a:t>
            </a:r>
            <a:endParaRPr lang="en-IN" sz="14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B8410D-0EE2-13E6-58FD-9E4B06126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EXPLORATORY DASHBOARD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EC1993-741F-464C-675B-FACC56DBAD67}"/>
              </a:ext>
            </a:extLst>
          </p:cNvPr>
          <p:cNvSpPr/>
          <p:nvPr/>
        </p:nvSpPr>
        <p:spPr>
          <a:xfrm>
            <a:off x="477979" y="6429733"/>
            <a:ext cx="11293717" cy="144324"/>
          </a:xfrm>
          <a:prstGeom prst="rect">
            <a:avLst/>
          </a:prstGeom>
          <a:solidFill>
            <a:srgbClr val="0034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8" descr="Bank of America Logo and symbol ...">
            <a:extLst>
              <a:ext uri="{FF2B5EF4-FFF2-40B4-BE49-F238E27FC236}">
                <a16:creationId xmlns:a16="http://schemas.microsoft.com/office/drawing/2014/main" id="{B9015631-346E-EC7D-60CD-E6ED2711F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8836" y="90344"/>
            <a:ext cx="1295254" cy="725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10145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F5D73-25FE-C898-2500-4E7E373AA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622E417-4EAF-9A3E-9935-85814F766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340" y="1423413"/>
            <a:ext cx="8152865" cy="4827849"/>
          </a:xfrm>
          <a:prstGeom prst="rect">
            <a:avLst/>
          </a:prstGeom>
          <a:ln w="19050">
            <a:solidFill>
              <a:srgbClr val="003487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529F71-5E9E-A03D-0BD9-4F14B2014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/>
              <a:t>TRANSACTION VOLUME BY CUSTOMER RETENTION PATTERN</a:t>
            </a:r>
            <a:endParaRPr lang="en-IN" sz="3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0E18D3-B012-418A-689C-DA813B26C8E3}"/>
              </a:ext>
            </a:extLst>
          </p:cNvPr>
          <p:cNvSpPr/>
          <p:nvPr/>
        </p:nvSpPr>
        <p:spPr>
          <a:xfrm>
            <a:off x="477979" y="6429733"/>
            <a:ext cx="11293717" cy="144324"/>
          </a:xfrm>
          <a:prstGeom prst="rect">
            <a:avLst/>
          </a:prstGeom>
          <a:solidFill>
            <a:srgbClr val="0034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0737A8F-2FB2-DDD4-4B7B-CDC10CEA53AB}"/>
              </a:ext>
            </a:extLst>
          </p:cNvPr>
          <p:cNvSpPr txBox="1">
            <a:spLocks/>
          </p:cNvSpPr>
          <p:nvPr/>
        </p:nvSpPr>
        <p:spPr>
          <a:xfrm>
            <a:off x="9119206" y="1423414"/>
            <a:ext cx="2652489" cy="47487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This scatter plot </a:t>
            </a:r>
            <a:r>
              <a:rPr lang="en-US" sz="1400" b="1" dirty="0"/>
              <a:t>helps identify critical customer segments </a:t>
            </a:r>
            <a:r>
              <a:rPr lang="en-US" sz="1400" dirty="0"/>
              <a:t>and churn risk patterns, making it valuable for developing targeted retention strategies and understanding customer behavior across different transaction levels.</a:t>
            </a:r>
          </a:p>
          <a:p>
            <a:r>
              <a:rPr lang="en-US" sz="1400" dirty="0"/>
              <a:t>It is suggested to </a:t>
            </a:r>
            <a:r>
              <a:rPr lang="en-US" sz="1400" b="1" dirty="0"/>
              <a:t>focus on retaining mid-tier customers (50-80 transactions) through targeted programs</a:t>
            </a:r>
            <a:r>
              <a:rPr lang="en-US" sz="1400" dirty="0"/>
              <a:t>, while also analyzing and applying successful retention strategies from high-value customers.</a:t>
            </a:r>
            <a:endParaRPr lang="en-IN" sz="1400" dirty="0"/>
          </a:p>
        </p:txBody>
      </p:sp>
      <p:pic>
        <p:nvPicPr>
          <p:cNvPr id="10" name="Picture 8" descr="Bank of America Logo and symbol ...">
            <a:extLst>
              <a:ext uri="{FF2B5EF4-FFF2-40B4-BE49-F238E27FC236}">
                <a16:creationId xmlns:a16="http://schemas.microsoft.com/office/drawing/2014/main" id="{6FE2073D-B544-0625-A764-303291A08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8836" y="90344"/>
            <a:ext cx="1295254" cy="725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0EF92933-3071-7D22-C2FB-167CCB2F3B3D}"/>
              </a:ext>
            </a:extLst>
          </p:cNvPr>
          <p:cNvGrpSpPr/>
          <p:nvPr/>
        </p:nvGrpSpPr>
        <p:grpSpPr>
          <a:xfrm>
            <a:off x="10208855" y="5866665"/>
            <a:ext cx="1905593" cy="464766"/>
            <a:chOff x="9866102" y="5836201"/>
            <a:chExt cx="1905593" cy="464766"/>
          </a:xfrm>
        </p:grpSpPr>
        <p:pic>
          <p:nvPicPr>
            <p:cNvPr id="12" name="Graphic 11" descr="Person with idea with solid fill">
              <a:extLst>
                <a:ext uri="{FF2B5EF4-FFF2-40B4-BE49-F238E27FC236}">
                  <a16:creationId xmlns:a16="http://schemas.microsoft.com/office/drawing/2014/main" id="{145574FC-769B-3699-E21C-EEB9C393E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866102" y="5836201"/>
              <a:ext cx="415061" cy="41506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37BD417-FBBF-BA92-38C6-F7E70ECE2E1B}"/>
                </a:ext>
              </a:extLst>
            </p:cNvPr>
            <p:cNvSpPr txBox="1"/>
            <p:nvPr/>
          </p:nvSpPr>
          <p:spPr>
            <a:xfrm>
              <a:off x="10155143" y="5900857"/>
              <a:ext cx="161655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000" b="1" i="1" dirty="0"/>
                <a:t>Future scope mentioned in the later slides</a:t>
              </a:r>
              <a:endParaRPr lang="en-IN" sz="1000" b="1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86290998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8F5F6-0BC8-379F-E728-E27238DE2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7E9F9-D64B-2DE0-236E-1F7EEA330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ATTRITED CUSTOMER BY CREDIT CARD INACTIVITY</a:t>
            </a:r>
            <a:endParaRPr lang="en-IN" sz="3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2665A4-61CF-B026-7490-37F097F7B80F}"/>
              </a:ext>
            </a:extLst>
          </p:cNvPr>
          <p:cNvSpPr/>
          <p:nvPr/>
        </p:nvSpPr>
        <p:spPr>
          <a:xfrm>
            <a:off x="477979" y="6429733"/>
            <a:ext cx="11293717" cy="144324"/>
          </a:xfrm>
          <a:prstGeom prst="rect">
            <a:avLst/>
          </a:prstGeom>
          <a:solidFill>
            <a:srgbClr val="0034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E978E40-50E2-FEB9-A774-FA35CEF821D7}"/>
              </a:ext>
            </a:extLst>
          </p:cNvPr>
          <p:cNvSpPr txBox="1">
            <a:spLocks/>
          </p:cNvSpPr>
          <p:nvPr/>
        </p:nvSpPr>
        <p:spPr>
          <a:xfrm>
            <a:off x="902332" y="5435313"/>
            <a:ext cx="6632324" cy="8067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This bar graph </a:t>
            </a:r>
            <a:r>
              <a:rPr lang="en-US" sz="1400" b="1" dirty="0"/>
              <a:t>helps identify critical inactivity periods leading to attrition</a:t>
            </a:r>
            <a:r>
              <a:rPr lang="en-US" sz="1400" dirty="0"/>
              <a:t>. The hover feature adds depth by revealing age-based customer distributions, enabling you to target specific demographics for re-engagement strategies.</a:t>
            </a:r>
            <a:endParaRPr lang="en-IN" sz="1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E4F12A6-E584-CD09-A13B-590C68034E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341" y="1423414"/>
            <a:ext cx="6310259" cy="3867112"/>
          </a:xfrm>
          <a:prstGeom prst="rect">
            <a:avLst/>
          </a:prstGeom>
          <a:ln w="19050">
            <a:solidFill>
              <a:srgbClr val="003487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40F834F-80D0-CE92-643E-B52443384E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1069" y="1423414"/>
            <a:ext cx="4202263" cy="4726262"/>
          </a:xfrm>
          <a:prstGeom prst="rect">
            <a:avLst/>
          </a:prstGeom>
          <a:ln w="19050">
            <a:solidFill>
              <a:srgbClr val="003487"/>
            </a:solidFill>
          </a:ln>
        </p:spPr>
      </p:pic>
      <p:pic>
        <p:nvPicPr>
          <p:cNvPr id="22" name="Picture 8" descr="Bank of America Logo and symbol ...">
            <a:extLst>
              <a:ext uri="{FF2B5EF4-FFF2-40B4-BE49-F238E27FC236}">
                <a16:creationId xmlns:a16="http://schemas.microsoft.com/office/drawing/2014/main" id="{F147A374-AF13-EF7D-5F1F-E64B6E488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8836" y="90344"/>
            <a:ext cx="1295254" cy="725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371460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581C7-4231-A2FB-F75F-506006CD9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7B7FC3-18CF-782B-9A5C-6789D071B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341" y="1423414"/>
            <a:ext cx="8152866" cy="4748786"/>
          </a:xfrm>
          <a:prstGeom prst="rect">
            <a:avLst/>
          </a:prstGeom>
          <a:ln w="19050">
            <a:solidFill>
              <a:srgbClr val="003487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935B99-761E-60A0-3510-6B81F29A4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CUSTOMER EXPENDITURE BY CUSTOMER RELATIONSHIP COUNT</a:t>
            </a:r>
            <a:endParaRPr lang="en-IN" sz="29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14EEBE-8990-56F1-E084-7AC3A6D2C48E}"/>
              </a:ext>
            </a:extLst>
          </p:cNvPr>
          <p:cNvSpPr/>
          <p:nvPr/>
        </p:nvSpPr>
        <p:spPr>
          <a:xfrm>
            <a:off x="477979" y="6429733"/>
            <a:ext cx="11293717" cy="144324"/>
          </a:xfrm>
          <a:prstGeom prst="rect">
            <a:avLst/>
          </a:prstGeom>
          <a:solidFill>
            <a:srgbClr val="0034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EB5769-13DE-7928-DEBF-62584B32B70E}"/>
              </a:ext>
            </a:extLst>
          </p:cNvPr>
          <p:cNvSpPr txBox="1">
            <a:spLocks/>
          </p:cNvSpPr>
          <p:nvPr/>
        </p:nvSpPr>
        <p:spPr>
          <a:xfrm>
            <a:off x="9119206" y="1423414"/>
            <a:ext cx="2652489" cy="47487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This line graph helps you </a:t>
            </a:r>
            <a:r>
              <a:rPr lang="en-US" sz="1400" b="1" dirty="0"/>
              <a:t>quickly identify high-value segments </a:t>
            </a:r>
            <a:r>
              <a:rPr lang="en-US" sz="1400" dirty="0"/>
              <a:t>and develop targeted retention strategies for optimal engagement. We can see that </a:t>
            </a:r>
            <a:r>
              <a:rPr lang="en-US" sz="1400" b="1" dirty="0"/>
              <a:t>spending declines as customers hold more relationships</a:t>
            </a:r>
            <a:r>
              <a:rPr lang="en-US" sz="1400" dirty="0"/>
              <a:t>.</a:t>
            </a:r>
          </a:p>
          <a:p>
            <a:r>
              <a:rPr lang="en-US" sz="1400" dirty="0"/>
              <a:t>Customers with fewer relationships show higher transaction amounts, suggesting that multiple products may dilute focus. </a:t>
            </a:r>
            <a:r>
              <a:rPr lang="en-US" sz="1400" b="1" dirty="0"/>
              <a:t>Retention efforts </a:t>
            </a:r>
            <a:r>
              <a:rPr lang="en-US" sz="1400" dirty="0"/>
              <a:t>should target high-value customers with 1-2 relationships by offering loyalty rewards to enhance spending.</a:t>
            </a:r>
            <a:endParaRPr lang="en-IN" sz="1400" dirty="0"/>
          </a:p>
        </p:txBody>
      </p:sp>
      <p:pic>
        <p:nvPicPr>
          <p:cNvPr id="10" name="Picture 8" descr="Bank of America Logo and symbol ...">
            <a:extLst>
              <a:ext uri="{FF2B5EF4-FFF2-40B4-BE49-F238E27FC236}">
                <a16:creationId xmlns:a16="http://schemas.microsoft.com/office/drawing/2014/main" id="{AE3B1031-032C-BE41-9FBE-FB3A03D9B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8836" y="90344"/>
            <a:ext cx="1295254" cy="725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452521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38FA1-E648-2FB9-9E6D-026E25F34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B9F572A-1C4F-44FA-C6EB-CE79B1956B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339" y="1423414"/>
            <a:ext cx="8094309" cy="4748786"/>
          </a:xfrm>
          <a:prstGeom prst="rect">
            <a:avLst/>
          </a:prstGeom>
          <a:ln w="19050">
            <a:solidFill>
              <a:srgbClr val="003487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26A339-A286-085C-3B4E-2C0CF541B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TRANSACTION COUNT BY AVERAGE REVOLVING BALANCE</a:t>
            </a:r>
            <a:endParaRPr lang="en-IN" sz="3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133D48-E7EE-295E-BD9C-E5C224DE86E4}"/>
              </a:ext>
            </a:extLst>
          </p:cNvPr>
          <p:cNvSpPr/>
          <p:nvPr/>
        </p:nvSpPr>
        <p:spPr>
          <a:xfrm>
            <a:off x="477979" y="6429733"/>
            <a:ext cx="11293717" cy="144324"/>
          </a:xfrm>
          <a:prstGeom prst="rect">
            <a:avLst/>
          </a:prstGeom>
          <a:solidFill>
            <a:srgbClr val="0034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7308F2A-7AB0-4829-97DC-68A611CD79C9}"/>
              </a:ext>
            </a:extLst>
          </p:cNvPr>
          <p:cNvSpPr txBox="1">
            <a:spLocks/>
          </p:cNvSpPr>
          <p:nvPr/>
        </p:nvSpPr>
        <p:spPr>
          <a:xfrm>
            <a:off x="9119206" y="1423414"/>
            <a:ext cx="2652489" cy="47487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This scatterplot highlights the heterogeneity within the customer base and the need to analyze different customer segments. </a:t>
            </a:r>
          </a:p>
          <a:p>
            <a:r>
              <a:rPr lang="en-US" sz="1400" dirty="0"/>
              <a:t>Data points are scattered and complex hence, further analysis is needed to understand customer behavior.</a:t>
            </a:r>
          </a:p>
          <a:p>
            <a:r>
              <a:rPr lang="en-US" sz="1400" b="1" dirty="0"/>
              <a:t>Offering premium cards to high-balance, low-transaction customers </a:t>
            </a:r>
            <a:r>
              <a:rPr lang="en-US" sz="1400" dirty="0"/>
              <a:t>and educating low-balance, high-transaction customers on card benefits could enhance retention.</a:t>
            </a:r>
            <a:endParaRPr lang="en-IN" sz="1400" dirty="0"/>
          </a:p>
        </p:txBody>
      </p:sp>
      <p:pic>
        <p:nvPicPr>
          <p:cNvPr id="9" name="Picture 8" descr="Bank of America Logo and symbol ...">
            <a:extLst>
              <a:ext uri="{FF2B5EF4-FFF2-40B4-BE49-F238E27FC236}">
                <a16:creationId xmlns:a16="http://schemas.microsoft.com/office/drawing/2014/main" id="{44A0A7B4-6B9B-AF9C-D80E-54A5A83F86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8836" y="90344"/>
            <a:ext cx="1295254" cy="725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36C2E03-226A-24A2-7BE7-345B41C0B1B9}"/>
              </a:ext>
            </a:extLst>
          </p:cNvPr>
          <p:cNvGrpSpPr/>
          <p:nvPr/>
        </p:nvGrpSpPr>
        <p:grpSpPr>
          <a:xfrm>
            <a:off x="10208855" y="5866665"/>
            <a:ext cx="1905593" cy="464766"/>
            <a:chOff x="9866102" y="5836201"/>
            <a:chExt cx="1905593" cy="464766"/>
          </a:xfrm>
        </p:grpSpPr>
        <p:pic>
          <p:nvPicPr>
            <p:cNvPr id="11" name="Graphic 10" descr="Person with idea with solid fill">
              <a:extLst>
                <a:ext uri="{FF2B5EF4-FFF2-40B4-BE49-F238E27FC236}">
                  <a16:creationId xmlns:a16="http://schemas.microsoft.com/office/drawing/2014/main" id="{AD92F1A9-6E82-8658-2CF0-16A4C427A98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866102" y="5836201"/>
              <a:ext cx="415061" cy="415061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363196A-19D9-8FFC-0780-B1C8B373BE07}"/>
                </a:ext>
              </a:extLst>
            </p:cNvPr>
            <p:cNvSpPr txBox="1"/>
            <p:nvPr/>
          </p:nvSpPr>
          <p:spPr>
            <a:xfrm>
              <a:off x="10155143" y="5900857"/>
              <a:ext cx="161655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sz="1000" b="1" i="1" dirty="0"/>
                <a:t>Future scope mentioned in the later slides</a:t>
              </a:r>
              <a:endParaRPr lang="en-IN" sz="1000" b="1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59449172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FCF27-B2A2-F650-4F30-14127F767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87E00-5224-8D85-27E3-712F0523A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F4A30-3459-1295-8B75-B6301B310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4288" y="1857918"/>
            <a:ext cx="3804510" cy="1280160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1400" b="0" i="0" dirty="0">
                <a:effectLst/>
              </a:rPr>
              <a:t>In the “Total Amount Change (Q4-Q1)” and "Total Count Change (Q4-Q1)" variables, it is unclear whether "Total Amount" refers to the total revenue, total spending, total credit limit, or some other financial metric.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1F14A6-1D91-503F-FCA8-5FE32AAAD03E}"/>
              </a:ext>
            </a:extLst>
          </p:cNvPr>
          <p:cNvSpPr/>
          <p:nvPr/>
        </p:nvSpPr>
        <p:spPr>
          <a:xfrm>
            <a:off x="477979" y="6429733"/>
            <a:ext cx="11293717" cy="144324"/>
          </a:xfrm>
          <a:prstGeom prst="rect">
            <a:avLst/>
          </a:prstGeom>
          <a:solidFill>
            <a:srgbClr val="0034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8" descr="Bank of America Logo and symbol ...">
            <a:extLst>
              <a:ext uri="{FF2B5EF4-FFF2-40B4-BE49-F238E27FC236}">
                <a16:creationId xmlns:a16="http://schemas.microsoft.com/office/drawing/2014/main" id="{FB151E6A-4A54-05E4-A543-B65CEAD60B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8836" y="90344"/>
            <a:ext cx="1295254" cy="725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FA001448-8E98-F265-15C9-1AA4AC1E4917}"/>
              </a:ext>
            </a:extLst>
          </p:cNvPr>
          <p:cNvGrpSpPr/>
          <p:nvPr/>
        </p:nvGrpSpPr>
        <p:grpSpPr>
          <a:xfrm>
            <a:off x="838200" y="1857918"/>
            <a:ext cx="1408176" cy="1280160"/>
            <a:chOff x="5193792" y="2982630"/>
            <a:chExt cx="1408176" cy="12801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6C7A90B-BCBF-920B-9D89-391CCFE18794}"/>
                </a:ext>
              </a:extLst>
            </p:cNvPr>
            <p:cNvSpPr/>
            <p:nvPr/>
          </p:nvSpPr>
          <p:spPr>
            <a:xfrm>
              <a:off x="5193792" y="2982630"/>
              <a:ext cx="1408176" cy="1280160"/>
            </a:xfrm>
            <a:prstGeom prst="roundRect">
              <a:avLst>
                <a:gd name="adj" fmla="val 28588"/>
              </a:avLst>
            </a:prstGeom>
            <a:solidFill>
              <a:srgbClr val="003487"/>
            </a:solidFill>
            <a:ln>
              <a:solidFill>
                <a:srgbClr val="00348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FB81466-3363-B4FC-29EF-B07F16F4D755}"/>
                </a:ext>
              </a:extLst>
            </p:cNvPr>
            <p:cNvSpPr/>
            <p:nvPr/>
          </p:nvSpPr>
          <p:spPr>
            <a:xfrm>
              <a:off x="5408832" y="3137303"/>
              <a:ext cx="972000" cy="97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1002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3600" b="1" dirty="0">
                  <a:solidFill>
                    <a:schemeClr val="tx1"/>
                  </a:solidFill>
                </a:rPr>
                <a:t>01</a:t>
              </a:r>
            </a:p>
          </p:txBody>
        </p: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1D60DDC4-CA83-C5B2-3E9C-EA813245B94F}"/>
              </a:ext>
            </a:extLst>
          </p:cNvPr>
          <p:cNvSpPr txBox="1">
            <a:spLocks/>
          </p:cNvSpPr>
          <p:nvPr/>
        </p:nvSpPr>
        <p:spPr>
          <a:xfrm>
            <a:off x="2304288" y="4265485"/>
            <a:ext cx="3661410" cy="12801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Lack of geographic segmentation prevents analysis of region-specific attrition patterns.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144DCD5-9C3A-6EA8-C573-9E3BC668885D}"/>
              </a:ext>
            </a:extLst>
          </p:cNvPr>
          <p:cNvGrpSpPr/>
          <p:nvPr/>
        </p:nvGrpSpPr>
        <p:grpSpPr>
          <a:xfrm>
            <a:off x="838200" y="4262683"/>
            <a:ext cx="1408176" cy="1280160"/>
            <a:chOff x="5193792" y="2982630"/>
            <a:chExt cx="1408176" cy="12801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0BA5D4CE-CD45-6DD7-7C3B-4A68E31E45A4}"/>
                </a:ext>
              </a:extLst>
            </p:cNvPr>
            <p:cNvSpPr/>
            <p:nvPr/>
          </p:nvSpPr>
          <p:spPr>
            <a:xfrm>
              <a:off x="5193792" y="2982630"/>
              <a:ext cx="1408176" cy="1280160"/>
            </a:xfrm>
            <a:prstGeom prst="roundRect">
              <a:avLst>
                <a:gd name="adj" fmla="val 28588"/>
              </a:avLst>
            </a:prstGeom>
            <a:solidFill>
              <a:srgbClr val="003487"/>
            </a:solidFill>
            <a:ln>
              <a:solidFill>
                <a:srgbClr val="00348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826C36E7-733B-8BFD-AF8F-52B177C277A0}"/>
                </a:ext>
              </a:extLst>
            </p:cNvPr>
            <p:cNvSpPr/>
            <p:nvPr/>
          </p:nvSpPr>
          <p:spPr>
            <a:xfrm>
              <a:off x="5408832" y="3137303"/>
              <a:ext cx="972000" cy="97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1002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3600" b="1" dirty="0">
                  <a:solidFill>
                    <a:schemeClr val="tx1"/>
                  </a:solidFill>
                </a:rPr>
                <a:t>03</a:t>
              </a:r>
            </a:p>
          </p:txBody>
        </p:sp>
      </p:grp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C1ED6E33-AC43-885D-C375-DE2B41D68505}"/>
              </a:ext>
            </a:extLst>
          </p:cNvPr>
          <p:cNvSpPr txBox="1">
            <a:spLocks/>
          </p:cNvSpPr>
          <p:nvPr/>
        </p:nvSpPr>
        <p:spPr>
          <a:xfrm>
            <a:off x="7796022" y="1846136"/>
            <a:ext cx="3615690" cy="12801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No data on competitors' influence or market trends affecting customer decisions.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6595464-1FB2-D7EC-CF45-F313C86446BE}"/>
              </a:ext>
            </a:extLst>
          </p:cNvPr>
          <p:cNvGrpSpPr/>
          <p:nvPr/>
        </p:nvGrpSpPr>
        <p:grpSpPr>
          <a:xfrm>
            <a:off x="6329934" y="1846136"/>
            <a:ext cx="1408176" cy="1280160"/>
            <a:chOff x="5193792" y="2982630"/>
            <a:chExt cx="1408176" cy="12801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DC2D0454-FA34-9DEB-EE76-630F6FB0FBE3}"/>
                </a:ext>
              </a:extLst>
            </p:cNvPr>
            <p:cNvSpPr/>
            <p:nvPr/>
          </p:nvSpPr>
          <p:spPr>
            <a:xfrm>
              <a:off x="5193792" y="2982630"/>
              <a:ext cx="1408176" cy="1280160"/>
            </a:xfrm>
            <a:prstGeom prst="roundRect">
              <a:avLst>
                <a:gd name="adj" fmla="val 28588"/>
              </a:avLst>
            </a:prstGeom>
            <a:solidFill>
              <a:srgbClr val="003487"/>
            </a:solidFill>
            <a:ln>
              <a:solidFill>
                <a:srgbClr val="00348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127D8401-D640-C42F-EA5A-84718EAE1341}"/>
                </a:ext>
              </a:extLst>
            </p:cNvPr>
            <p:cNvSpPr/>
            <p:nvPr/>
          </p:nvSpPr>
          <p:spPr>
            <a:xfrm>
              <a:off x="5408832" y="3137303"/>
              <a:ext cx="972000" cy="97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1002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3600" b="1" dirty="0">
                  <a:solidFill>
                    <a:schemeClr val="tx1"/>
                  </a:solidFill>
                </a:rPr>
                <a:t>02</a:t>
              </a:r>
            </a:p>
          </p:txBody>
        </p:sp>
      </p:grp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A60060A8-0352-D4CA-5DF7-85F6B40504FF}"/>
              </a:ext>
            </a:extLst>
          </p:cNvPr>
          <p:cNvSpPr txBox="1">
            <a:spLocks/>
          </p:cNvSpPr>
          <p:nvPr/>
        </p:nvSpPr>
        <p:spPr>
          <a:xfrm>
            <a:off x="7796022" y="4265485"/>
            <a:ext cx="3661410" cy="12801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The dataset doesn't account for qualitative customer feedback, which may provide deeper insights into dissatisfaction reasons.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3C8B725-4FF5-B44F-1352-83BD1FF008C5}"/>
              </a:ext>
            </a:extLst>
          </p:cNvPr>
          <p:cNvGrpSpPr/>
          <p:nvPr/>
        </p:nvGrpSpPr>
        <p:grpSpPr>
          <a:xfrm>
            <a:off x="6329934" y="4262683"/>
            <a:ext cx="1408176" cy="1280160"/>
            <a:chOff x="5193792" y="2982630"/>
            <a:chExt cx="1408176" cy="12801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36B73451-01F2-52A2-6D3F-BD0EAB1F82BD}"/>
                </a:ext>
              </a:extLst>
            </p:cNvPr>
            <p:cNvSpPr/>
            <p:nvPr/>
          </p:nvSpPr>
          <p:spPr>
            <a:xfrm>
              <a:off x="5193792" y="2982630"/>
              <a:ext cx="1408176" cy="1280160"/>
            </a:xfrm>
            <a:prstGeom prst="roundRect">
              <a:avLst>
                <a:gd name="adj" fmla="val 28588"/>
              </a:avLst>
            </a:prstGeom>
            <a:solidFill>
              <a:srgbClr val="003487"/>
            </a:solidFill>
            <a:ln>
              <a:solidFill>
                <a:srgbClr val="00348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C5A230A1-11AF-4026-84CC-A5CC0397F920}"/>
                </a:ext>
              </a:extLst>
            </p:cNvPr>
            <p:cNvSpPr/>
            <p:nvPr/>
          </p:nvSpPr>
          <p:spPr>
            <a:xfrm>
              <a:off x="5408832" y="3137303"/>
              <a:ext cx="972000" cy="972000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1002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3600" b="1" dirty="0">
                  <a:solidFill>
                    <a:schemeClr val="tx1"/>
                  </a:solidFill>
                </a:rPr>
                <a:t>04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222195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5" grpId="0"/>
      <p:bldP spid="29" grpId="0"/>
      <p:bldP spid="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D169E-B50E-7943-009D-875D49841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4E1C4-6018-B464-8817-4BA249986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FB39B6-4607-1EE2-597D-010F1B67AB0F}"/>
              </a:ext>
            </a:extLst>
          </p:cNvPr>
          <p:cNvSpPr/>
          <p:nvPr/>
        </p:nvSpPr>
        <p:spPr>
          <a:xfrm>
            <a:off x="477979" y="6429733"/>
            <a:ext cx="11293717" cy="144324"/>
          </a:xfrm>
          <a:prstGeom prst="rect">
            <a:avLst/>
          </a:prstGeom>
          <a:solidFill>
            <a:srgbClr val="0034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8" descr="Bank of America Logo and symbol ...">
            <a:extLst>
              <a:ext uri="{FF2B5EF4-FFF2-40B4-BE49-F238E27FC236}">
                <a16:creationId xmlns:a16="http://schemas.microsoft.com/office/drawing/2014/main" id="{0B061E7E-214B-01A5-7587-E3693A4E1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8836" y="90344"/>
            <a:ext cx="1295254" cy="725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877C8D9-D2DE-28C4-CD79-088ACAEE3996}"/>
              </a:ext>
            </a:extLst>
          </p:cNvPr>
          <p:cNvSpPr txBox="1"/>
          <p:nvPr/>
        </p:nvSpPr>
        <p:spPr>
          <a:xfrm>
            <a:off x="811364" y="3329830"/>
            <a:ext cx="28294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0" i="0" dirty="0">
                <a:effectLst/>
              </a:rPr>
              <a:t>Develop predictive models incorporating time-series data to forecast attrition trends in advance.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C99283-6AFB-8440-3A97-1B6946A65818}"/>
              </a:ext>
            </a:extLst>
          </p:cNvPr>
          <p:cNvSpPr txBox="1"/>
          <p:nvPr/>
        </p:nvSpPr>
        <p:spPr>
          <a:xfrm>
            <a:off x="2044150" y="1634385"/>
            <a:ext cx="37805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b="0" i="0" dirty="0">
                <a:effectLst/>
              </a:rPr>
              <a:t>Analyze top-tier customers to identify loyalty drivers, like rewards, and apply these insights to improve retention in other segments.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CCCCBEF-DA2B-1EF9-4145-19B31FB2ADCF}"/>
              </a:ext>
            </a:extLst>
          </p:cNvPr>
          <p:cNvSpPr txBox="1"/>
          <p:nvPr/>
        </p:nvSpPr>
        <p:spPr>
          <a:xfrm>
            <a:off x="6213645" y="1634385"/>
            <a:ext cx="33947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b="0" i="0" dirty="0">
                <a:effectLst/>
              </a:rPr>
              <a:t>Explore the relationship between digital engagement metrics (e.g., app usage) and customer retention.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916D5E-F914-6F75-F0CC-1C10A80F1270}"/>
              </a:ext>
            </a:extLst>
          </p:cNvPr>
          <p:cNvSpPr txBox="1"/>
          <p:nvPr/>
        </p:nvSpPr>
        <p:spPr>
          <a:xfrm>
            <a:off x="8028252" y="3251849"/>
            <a:ext cx="38292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b="0" i="0" dirty="0">
                <a:effectLst/>
              </a:rPr>
              <a:t>Expand segmentation analysis to </a:t>
            </a:r>
            <a:r>
              <a:rPr lang="en-US" dirty="0"/>
              <a:t>a</a:t>
            </a:r>
            <a:r>
              <a:rPr lang="en-US" b="0" i="0" dirty="0">
                <a:effectLst/>
              </a:rPr>
              <a:t>nalyze spending and payment behaviors to better understand scattered datapoints.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AFC71BB-995E-DA9D-B701-4C2ED8DDE56F}"/>
              </a:ext>
            </a:extLst>
          </p:cNvPr>
          <p:cNvGrpSpPr/>
          <p:nvPr/>
        </p:nvGrpSpPr>
        <p:grpSpPr>
          <a:xfrm>
            <a:off x="2733321" y="2922303"/>
            <a:ext cx="6491027" cy="7018276"/>
            <a:chOff x="2733321" y="2922303"/>
            <a:chExt cx="6491027" cy="7018276"/>
          </a:xfrm>
        </p:grpSpPr>
        <p:pic>
          <p:nvPicPr>
            <p:cNvPr id="10" name="Graphic 9" descr="Person with idea with solid fill">
              <a:extLst>
                <a:ext uri="{FF2B5EF4-FFF2-40B4-BE49-F238E27FC236}">
                  <a16:creationId xmlns:a16="http://schemas.microsoft.com/office/drawing/2014/main" id="{453DCD54-9312-50CF-D902-C7661BBE8E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755873" y="3764527"/>
              <a:ext cx="2577615" cy="257761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5" name="Block Arc 14">
              <a:extLst>
                <a:ext uri="{FF2B5EF4-FFF2-40B4-BE49-F238E27FC236}">
                  <a16:creationId xmlns:a16="http://schemas.microsoft.com/office/drawing/2014/main" id="{68DA36A7-E6AC-4E7A-966F-BC3F6996BAAF}"/>
                </a:ext>
              </a:extLst>
            </p:cNvPr>
            <p:cNvSpPr/>
            <p:nvPr/>
          </p:nvSpPr>
          <p:spPr>
            <a:xfrm rot="16200000">
              <a:off x="2733321" y="3449552"/>
              <a:ext cx="6491027" cy="6491027"/>
            </a:xfrm>
            <a:prstGeom prst="blockArc">
              <a:avLst>
                <a:gd name="adj1" fmla="val 18900000"/>
                <a:gd name="adj2" fmla="val 2700000"/>
                <a:gd name="adj3" fmla="val 333"/>
              </a:avLst>
            </a:prstGeom>
            <a:ln>
              <a:solidFill>
                <a:srgbClr val="F10023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60000"/>
                <a:hueOff val="0"/>
                <a:satOff val="0"/>
                <a:lumOff val="0"/>
                <a:alphaOff val="0"/>
              </a:schemeClr>
            </a:lnRef>
            <a:fillRef idx="0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IN"/>
            </a:p>
          </p:txBody>
        </p: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0F3A9305-ED25-55B4-B9E1-FD50652C6C10}"/>
                </a:ext>
              </a:extLst>
            </p:cNvPr>
            <p:cNvGrpSpPr/>
            <p:nvPr/>
          </p:nvGrpSpPr>
          <p:grpSpPr>
            <a:xfrm>
              <a:off x="8078710" y="4227866"/>
              <a:ext cx="927193" cy="927193"/>
              <a:chOff x="8078710" y="4227866"/>
              <a:chExt cx="927193" cy="927193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C9D38E2-1968-B1DE-CF9A-A71908B5873F}"/>
                  </a:ext>
                </a:extLst>
              </p:cNvPr>
              <p:cNvSpPr/>
              <p:nvPr/>
            </p:nvSpPr>
            <p:spPr>
              <a:xfrm>
                <a:off x="8078710" y="4227866"/>
                <a:ext cx="927193" cy="927193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38100">
                <a:solidFill>
                  <a:srgbClr val="F10023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IN"/>
              </a:p>
            </p:txBody>
          </p:sp>
          <p:pic>
            <p:nvPicPr>
              <p:cNvPr id="36" name="Graphic 35" descr="Scatterplot with solid fill">
                <a:extLst>
                  <a:ext uri="{FF2B5EF4-FFF2-40B4-BE49-F238E27FC236}">
                    <a16:creationId xmlns:a16="http://schemas.microsoft.com/office/drawing/2014/main" id="{811FE57D-7A97-1383-6F3B-C42A04B0D9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203229" y="4346670"/>
                <a:ext cx="678153" cy="678153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04DE8B08-9867-F08F-4B70-131BBF72377D}"/>
                </a:ext>
              </a:extLst>
            </p:cNvPr>
            <p:cNvGrpSpPr/>
            <p:nvPr/>
          </p:nvGrpSpPr>
          <p:grpSpPr>
            <a:xfrm>
              <a:off x="6488297" y="2922304"/>
              <a:ext cx="927193" cy="927193"/>
              <a:chOff x="6488297" y="2922304"/>
              <a:chExt cx="927193" cy="927193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809D895F-4861-1E05-4535-4D65C679CBB5}"/>
                  </a:ext>
                </a:extLst>
              </p:cNvPr>
              <p:cNvSpPr/>
              <p:nvPr/>
            </p:nvSpPr>
            <p:spPr>
              <a:xfrm>
                <a:off x="6488297" y="2922304"/>
                <a:ext cx="927193" cy="927193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38100">
                <a:solidFill>
                  <a:srgbClr val="F10023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IN"/>
              </a:p>
            </p:txBody>
          </p:sp>
          <p:pic>
            <p:nvPicPr>
              <p:cNvPr id="38" name="Graphic 37" descr="Smart Phone with solid fill">
                <a:extLst>
                  <a:ext uri="{FF2B5EF4-FFF2-40B4-BE49-F238E27FC236}">
                    <a16:creationId xmlns:a16="http://schemas.microsoft.com/office/drawing/2014/main" id="{F0E0BFD0-0949-A3FB-4645-0F2CEBE44E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6643213" y="3084649"/>
                <a:ext cx="602499" cy="602499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22304CE8-B6ED-2372-DCAC-2544CAE88749}"/>
                </a:ext>
              </a:extLst>
            </p:cNvPr>
            <p:cNvGrpSpPr/>
            <p:nvPr/>
          </p:nvGrpSpPr>
          <p:grpSpPr>
            <a:xfrm>
              <a:off x="3164875" y="4137600"/>
              <a:ext cx="927193" cy="927193"/>
              <a:chOff x="3164875" y="4137600"/>
              <a:chExt cx="927193" cy="927193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5FEF87EA-B12B-5137-80BB-AD0297F8E048}"/>
                  </a:ext>
                </a:extLst>
              </p:cNvPr>
              <p:cNvSpPr/>
              <p:nvPr/>
            </p:nvSpPr>
            <p:spPr>
              <a:xfrm>
                <a:off x="3164875" y="4137600"/>
                <a:ext cx="927193" cy="927193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38100">
                <a:solidFill>
                  <a:srgbClr val="F10023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IN"/>
              </a:p>
            </p:txBody>
          </p:sp>
          <p:pic>
            <p:nvPicPr>
              <p:cNvPr id="41" name="Graphic 40" descr="Future with solid fill">
                <a:extLst>
                  <a:ext uri="{FF2B5EF4-FFF2-40B4-BE49-F238E27FC236}">
                    <a16:creationId xmlns:a16="http://schemas.microsoft.com/office/drawing/2014/main" id="{5A4C5CF2-8F81-7DAD-47BA-97D31E4E04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3251733" y="4224726"/>
                <a:ext cx="752940" cy="752940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8737C9DF-6880-9A1B-31E7-080E6B291834}"/>
                </a:ext>
              </a:extLst>
            </p:cNvPr>
            <p:cNvGrpSpPr/>
            <p:nvPr/>
          </p:nvGrpSpPr>
          <p:grpSpPr>
            <a:xfrm>
              <a:off x="4600957" y="2922303"/>
              <a:ext cx="927193" cy="927193"/>
              <a:chOff x="4600957" y="2922303"/>
              <a:chExt cx="927193" cy="927193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8F223CCC-941D-8A18-CFC3-5332EA58CED0}"/>
                  </a:ext>
                </a:extLst>
              </p:cNvPr>
              <p:cNvSpPr/>
              <p:nvPr/>
            </p:nvSpPr>
            <p:spPr>
              <a:xfrm>
                <a:off x="4600957" y="2922303"/>
                <a:ext cx="927193" cy="927193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38100">
                <a:solidFill>
                  <a:srgbClr val="F10023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IN"/>
              </a:p>
            </p:txBody>
          </p:sp>
          <p:pic>
            <p:nvPicPr>
              <p:cNvPr id="43" name="Graphic 42" descr="Research with solid fill">
                <a:extLst>
                  <a:ext uri="{FF2B5EF4-FFF2-40B4-BE49-F238E27FC236}">
                    <a16:creationId xmlns:a16="http://schemas.microsoft.com/office/drawing/2014/main" id="{D95BCC30-D8A5-AF66-1D59-0AE4CB9CD9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4719224" y="3041192"/>
                <a:ext cx="690658" cy="690658"/>
              </a:xfrm>
              <a:prstGeom prst="rect">
                <a:avLst/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</p:grpSp>
    </p:spTree>
    <p:extLst>
      <p:ext uri="{BB962C8B-B14F-4D97-AF65-F5344CB8AC3E}">
        <p14:creationId xmlns:p14="http://schemas.microsoft.com/office/powerpoint/2010/main" val="165443378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2)">
                                      <p:cBhvr>
                                        <p:cTn id="7" dur="1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  <p:bldP spid="29" grpId="0"/>
      <p:bldP spid="3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E24F1-0F2C-D97F-AC50-D3519EB9E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8" descr="Bank of America Logo and symbol ...">
            <a:extLst>
              <a:ext uri="{FF2B5EF4-FFF2-40B4-BE49-F238E27FC236}">
                <a16:creationId xmlns:a16="http://schemas.microsoft.com/office/drawing/2014/main" id="{F8C75174-B2D6-99AF-C06B-83895BDA54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MosiaicBubbles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7082"/>
          <a:stretch/>
        </p:blipFill>
        <p:spPr bwMode="auto">
          <a:xfrm>
            <a:off x="-406084" y="848891"/>
            <a:ext cx="12603075" cy="5146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A3ED26-BFDA-D597-3D6E-0C72891E0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9F20A-D662-3DC5-B6C6-F13C43983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63407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200" dirty="0"/>
              <a:t>Thank you for the opportunity to present our findings on customer attrition. We hope the insights and dashboards provided will support strategic decision-making at Bank of America.</a:t>
            </a: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r>
              <a:rPr lang="en-US" sz="2200" dirty="0"/>
              <a:t>For Follow-Up Inquiries, feel free to contact our Business Analyst team: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2F2B7F-4055-402B-A771-466B61E4600B}"/>
              </a:ext>
            </a:extLst>
          </p:cNvPr>
          <p:cNvSpPr/>
          <p:nvPr/>
        </p:nvSpPr>
        <p:spPr>
          <a:xfrm>
            <a:off x="477979" y="6429733"/>
            <a:ext cx="11293717" cy="144324"/>
          </a:xfrm>
          <a:prstGeom prst="rect">
            <a:avLst/>
          </a:prstGeom>
          <a:solidFill>
            <a:srgbClr val="0034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Graphic 7" descr="Envelope with solid fill">
            <a:extLst>
              <a:ext uri="{FF2B5EF4-FFF2-40B4-BE49-F238E27FC236}">
                <a16:creationId xmlns:a16="http://schemas.microsoft.com/office/drawing/2014/main" id="{79BECD11-7C7B-C440-2E9B-C4CD668979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3835" y="4423399"/>
            <a:ext cx="396187" cy="396187"/>
          </a:xfrm>
          <a:prstGeom prst="rect">
            <a:avLst/>
          </a:prstGeom>
        </p:spPr>
      </p:pic>
      <p:pic>
        <p:nvPicPr>
          <p:cNvPr id="10" name="Graphic 9" descr="Receiver with solid fill">
            <a:extLst>
              <a:ext uri="{FF2B5EF4-FFF2-40B4-BE49-F238E27FC236}">
                <a16:creationId xmlns:a16="http://schemas.microsoft.com/office/drawing/2014/main" id="{5E88AAFF-85F3-90D8-214F-050BE7D428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9530" y="4794451"/>
            <a:ext cx="314425" cy="3144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DFED0E0-1E86-EE0E-90B3-9368D36F80E8}"/>
              </a:ext>
            </a:extLst>
          </p:cNvPr>
          <p:cNvSpPr txBox="1"/>
          <p:nvPr/>
        </p:nvSpPr>
        <p:spPr>
          <a:xfrm>
            <a:off x="838200" y="4426025"/>
            <a:ext cx="837723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en-US" sz="2200" dirty="0"/>
              <a:t> Email: </a:t>
            </a:r>
            <a:r>
              <a:rPr lang="en-US" sz="2200" dirty="0">
                <a:hlinkClick r:id="rId8"/>
              </a:rPr>
              <a:t>dataops@datainsightsfirm.com</a:t>
            </a:r>
            <a:endParaRPr lang="en-US" sz="2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85DD60-96D7-B209-672D-F2E9CB0E95C5}"/>
              </a:ext>
            </a:extLst>
          </p:cNvPr>
          <p:cNvSpPr txBox="1"/>
          <p:nvPr/>
        </p:nvSpPr>
        <p:spPr>
          <a:xfrm>
            <a:off x="1360022" y="4760778"/>
            <a:ext cx="837723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dirty="0"/>
              <a:t>Phone: +14256373906</a:t>
            </a:r>
            <a:endParaRPr lang="en-IN" sz="2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761BAB-81B6-45ED-3102-0C96FE916FE4}"/>
              </a:ext>
            </a:extLst>
          </p:cNvPr>
          <p:cNvSpPr txBox="1"/>
          <p:nvPr/>
        </p:nvSpPr>
        <p:spPr>
          <a:xfrm>
            <a:off x="838200" y="5565111"/>
            <a:ext cx="837723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200" dirty="0"/>
              <a:t>Here is the </a:t>
            </a:r>
            <a:r>
              <a:rPr lang="en-IN" sz="2200" b="1" i="1" u="sng" dirty="0">
                <a:solidFill>
                  <a:srgbClr val="F10023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IN" sz="2200" dirty="0"/>
              <a:t> to the detailed working dashboards on tableau.</a:t>
            </a:r>
          </a:p>
        </p:txBody>
      </p:sp>
    </p:spTree>
    <p:extLst>
      <p:ext uri="{BB962C8B-B14F-4D97-AF65-F5344CB8AC3E}">
        <p14:creationId xmlns:p14="http://schemas.microsoft.com/office/powerpoint/2010/main" val="407632165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/>
      <p:bldP spid="14" grpId="0"/>
      <p:bldP spid="1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558</TotalTime>
  <Words>786</Words>
  <Application>Microsoft Office PowerPoint</Application>
  <PresentationFormat>Widescreen</PresentationFormat>
  <Paragraphs>90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Wingdings</vt:lpstr>
      <vt:lpstr>Office Theme</vt:lpstr>
      <vt:lpstr>CREDIT CARD USER ATTRITION ANALYSIS</vt:lpstr>
      <vt:lpstr>ANALYST TEAM MEMBERS</vt:lpstr>
      <vt:lpstr>AGENDA</vt:lpstr>
      <vt:lpstr>PROBLEM STATEMENT &amp; OBJECTIVE</vt:lpstr>
      <vt:lpstr>DATASET</vt:lpstr>
      <vt:lpstr>EXPLORATORY DASHBOARD</vt:lpstr>
      <vt:lpstr>TRANSACTION VOLUME BY CUSTOMER RETENTION PATTERN</vt:lpstr>
      <vt:lpstr>ATTRITED CUSTOMER BY CREDIT CARD INACTIVITY</vt:lpstr>
      <vt:lpstr>CUSTOMER EXPENDITURE BY CUSTOMER RELATIONSHIP COUNT</vt:lpstr>
      <vt:lpstr>TRANSACTION COUNT BY AVERAGE REVOLVING BALANCE</vt:lpstr>
      <vt:lpstr>DATA LIMITATIONS</vt:lpstr>
      <vt:lpstr>FUTURE SCOPE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Vellanki, Koumudi - (kvellanki)</dc:creator>
  <cp:lastModifiedBy>Vellanki, Koumudi - (kvellanki)</cp:lastModifiedBy>
  <cp:revision>42</cp:revision>
  <dcterms:created xsi:type="dcterms:W3CDTF">2024-12-14T19:38:51Z</dcterms:created>
  <dcterms:modified xsi:type="dcterms:W3CDTF">2024-12-16T02:42:14Z</dcterms:modified>
</cp:coreProperties>
</file>